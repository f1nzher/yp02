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92" r:id="rId2"/>
    <p:sldId id="294" r:id="rId3"/>
    <p:sldId id="258" r:id="rId4"/>
    <p:sldId id="266" r:id="rId5"/>
    <p:sldId id="303" r:id="rId6"/>
    <p:sldId id="305" r:id="rId7"/>
    <p:sldId id="307" r:id="rId8"/>
    <p:sldId id="306" r:id="rId9"/>
    <p:sldId id="308" r:id="rId10"/>
    <p:sldId id="309" r:id="rId11"/>
    <p:sldId id="310" r:id="rId12"/>
    <p:sldId id="270" r:id="rId13"/>
    <p:sldId id="302" r:id="rId14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59FDA06-F3B5-463C-8453-4EC88FC82128}">
          <p14:sldIdLst>
            <p14:sldId id="292"/>
            <p14:sldId id="294"/>
            <p14:sldId id="258"/>
            <p14:sldId id="266"/>
            <p14:sldId id="303"/>
            <p14:sldId id="305"/>
            <p14:sldId id="307"/>
            <p14:sldId id="306"/>
            <p14:sldId id="308"/>
            <p14:sldId id="309"/>
            <p14:sldId id="310"/>
          </p14:sldIdLst>
        </p14:section>
        <p14:section name="Раздел без заголовка" id="{3A363B77-8613-4CCC-B8F1-7AB7E465A9D3}">
          <p14:sldIdLst>
            <p14:sldId id="270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8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29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BE5BAF0-406B-4DAC-BDEB-B8AB04FBA619}" type="datetime1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EFCFFF0-B784-4FE7-8A38-F89DE294F8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3ED60E9-ECAF-493A-912B-2A6EDF8487B0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98C672F-171E-46DC-915C-C7BCF99F5C42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62371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85535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85535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3156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6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17246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833958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02861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13867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10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03788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11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01089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8C672F-171E-46DC-915C-C7BCF99F5C42}" type="slidenum">
              <a:rPr lang="ru-RU" noProof="0" smtClean="0"/>
              <a:t>12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85535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 6" title="круг с выемками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rtlCol="0" anchor="ctr">
            <a:noAutofit/>
          </a:bodyPr>
          <a:lstStyle>
            <a:lvl1pPr algn="ctr">
              <a:defRPr sz="8000" spc="800" baseline="0"/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rtlCol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 rtlCol="0"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D7A18886-630A-4775-ABDA-04A3FE4225E5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 rtlCol="0"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 rtlCol="0"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3" name="Прямоугольник 12" title="левая граница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CAA4B1-3F0D-402F-B2E1-C87F64864A65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rtlCol="0"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90502F68-D0CC-4B4C-ADB4-DD5F952F1B1C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  <p:grpSp>
        <p:nvGrpSpPr>
          <p:cNvPr id="7" name="Группа 6" title="волнообразная фигура слева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Полилиния 6" title="волнообразная фигура слева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Полилиния 11" title="встроенная волнообразная фигура слева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44A429-1180-4532-92E3-8778477FF2C3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40CCD9-05A8-4A33-B382-91D856615C69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D44F33-432E-4082-A824-D5D66CB9784E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CBB149-BC31-40AD-B3C3-6A55CB77094D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 11" title="фоновая волнообразная фигура справа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 rtlCol="0"/>
          <a:lstStyle/>
          <a:p>
            <a:pPr rtl="0"/>
            <a:fld id="{DD2DA999-D377-4622-815B-E78CC008ACE4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Прямоугольник 7" title="левая граница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863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83464" y="0"/>
            <a:ext cx="7355585" cy="6857999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1" name="Полилиния 11" title="фоновая волнообразная фигура справа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Прямоугольник 11" title="левая граница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 rtlCol="0"/>
          <a:lstStyle/>
          <a:p>
            <a:pPr rtl="0"/>
            <a:fld id="{B48A3D70-BAAF-484D-84CD-8E76D9CC36EA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5383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94C00F-CBEB-4140-B79D-B1D6A5DC7CD3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221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4FCF47-47C7-47BA-8D30-C26998A7AF50}" type="datetime1">
              <a:rPr lang="ru-RU" noProof="0" smtClean="0"/>
              <a:t>20.03.2026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9DD5A9-4EF1-497E-92EF-2D23CF305E0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359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374092F-52EC-4871-981E-2794169A39AC}" type="datetime1">
              <a:rPr lang="ru-RU" noProof="0" smtClean="0"/>
              <a:t>20.03.2026</a:t>
            </a:fld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99DD5A9-4EF1-497E-92EF-2D23CF305E03}" type="slidenum">
              <a:rPr lang="ru-RU" noProof="0" smtClean="0"/>
              <a:pPr/>
              <a:t>‹#›</a:t>
            </a:fld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олилиния 6" title="Левый волнообразный край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Прямоугольник 11" title="правая граница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50845845-91BC-FE91-3D07-49C8E99A0E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94528" y="160021"/>
            <a:ext cx="1017832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chemeClr val="tx1"/>
                </a:solidFill>
                <a:ea typeface="+mn-lt"/>
              </a:rPr>
              <a:t>Министерство образования Иркутской области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chemeClr val="tx1"/>
                </a:solidFill>
                <a:ea typeface="+mn-lt"/>
              </a:rPr>
              <a:t> Государственное бюджетное профессиональное образовательное учреждение Иркутской области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chemeClr val="tx1"/>
                </a:solidFill>
                <a:ea typeface="+mn-lt"/>
              </a:rPr>
              <a:t> «Ангарский промышленно-экономический техникум»</a:t>
            </a:r>
            <a:endParaRPr lang="ru-RU" sz="1100" dirty="0">
              <a:solidFill>
                <a:schemeClr val="tx1"/>
              </a:solidFill>
            </a:endParaRP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969104"/>
              </p:ext>
            </p:extLst>
          </p:nvPr>
        </p:nvGraphicFramePr>
        <p:xfrm>
          <a:off x="3404344" y="5035817"/>
          <a:ext cx="5840730" cy="866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Руководитель по практической подготовке в виде учебной практики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Туркина Надежда Михайловна, преподаватель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827180"/>
              </p:ext>
            </p:extLst>
          </p:nvPr>
        </p:nvGraphicFramePr>
        <p:xfrm>
          <a:off x="3442284" y="2501819"/>
          <a:ext cx="5802790" cy="92259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722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6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 специальности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09.02.07 Информационные системы и программирование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обучающегося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курса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группы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ИСПП-6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30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Гончарка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Егора Андреевича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1626870" y="818861"/>
            <a:ext cx="893826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Calibri" pitchFamily="34" charset="0"/>
                <a:cs typeface="Calibri" pitchFamily="34" charset="0"/>
              </a:rPr>
              <a:t>Отчет</a:t>
            </a:r>
            <a:endParaRPr lang="ru-RU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ru-RU" dirty="0">
                <a:latin typeface="Calibri" pitchFamily="34" charset="0"/>
                <a:cs typeface="Calibri" pitchFamily="34" charset="0"/>
              </a:rPr>
              <a:t>по практической подготовке в виде учебной практики</a:t>
            </a:r>
          </a:p>
          <a:p>
            <a:pPr algn="ctr"/>
            <a:r>
              <a:rPr lang="ru-RU" dirty="0">
                <a:latin typeface="Calibri" pitchFamily="34" charset="0"/>
                <a:cs typeface="Calibri" pitchFamily="34" charset="0"/>
              </a:rPr>
              <a:t>профессионального модуля</a:t>
            </a:r>
          </a:p>
          <a:p>
            <a:pPr algn="ctr"/>
            <a:r>
              <a:rPr lang="ru-RU" dirty="0">
                <a:latin typeface="Calibri" pitchFamily="34" charset="0"/>
                <a:cs typeface="Calibri" pitchFamily="34" charset="0"/>
              </a:rPr>
              <a:t>(ПМ.02)  Осуществление интеграции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43292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ru-RU" sz="4000" dirty="0" err="1">
                <a:latin typeface="Calibri" pitchFamily="34" charset="0"/>
                <a:cs typeface="Calibri" pitchFamily="34" charset="0"/>
              </a:rPr>
              <a:t>вВЕДЕНИЕ</a:t>
            </a:r>
            <a:endParaRPr lang="ru-RU" sz="4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3A367-4040-A526-CFB9-E2B6CF40B236}"/>
              </a:ext>
            </a:extLst>
          </p:cNvPr>
          <p:cNvSpPr txBox="1"/>
          <p:nvPr/>
        </p:nvSpPr>
        <p:spPr>
          <a:xfrm>
            <a:off x="1640502" y="1223902"/>
            <a:ext cx="9400673" cy="5463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Целью учебной практики является закрепление теоретических знаний, полученных в процессе обучения, и приобретение практических навыков разработки программного обеспечения.</a:t>
            </a:r>
          </a:p>
          <a:p>
            <a:r>
              <a:rPr lang="ru-RU" sz="28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 marL="457200" indent="450215" algn="just" defTabSz="914400">
              <a:lnSpc>
                <a:spcPct val="14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анализа предметной области</a:t>
            </a:r>
          </a:p>
          <a:p>
            <a:pPr marL="457200" indent="450215" algn="just" defTabSz="914400">
              <a:lnSpc>
                <a:spcPct val="14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проектирования и реализации программного модуля</a:t>
            </a:r>
          </a:p>
          <a:p>
            <a:pPr marL="457200" indent="450215" algn="just" defTabSz="914400">
              <a:lnSpc>
                <a:spcPct val="14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применения методов математического моделирования для решения прикладных задач</a:t>
            </a:r>
            <a:endParaRPr lang="ru-R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4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00645"/>
          </a:xfrm>
        </p:spPr>
        <p:txBody>
          <a:bodyPr rtlCol="0">
            <a:normAutofit fontScale="90000"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РАЗРАБОТКА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ПРОГРАММНОГО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ОБЕСПЕЧЕНИЯ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50C1E8-A3C4-4E79-8384-A72C24304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164" y="1223158"/>
            <a:ext cx="10016836" cy="5357103"/>
          </a:xfrm>
        </p:spPr>
        <p:txBody>
          <a:bodyPr rtlCol="0">
            <a:normAutofit fontScale="625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Вариант № 5. Создать программный модуль, содержащий сведения об оплате за электроэнергию. Каждая запись содержит поля: 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номер абонента, 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фамилия, адрес, 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дата последней оплаты, 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показания счетчика (предыдущие),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текущая дата, 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показания счетчика (текущие), 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размер оплаты. 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Написать программу определения размера оплаты исходя из стоимости одного киловатт-часа, выдать списки абонентов, имеющих задолженность по оплате более месяца.</a:t>
            </a:r>
          </a:p>
          <a:p>
            <a:pPr marL="457200" indent="450215" algn="just">
              <a:lnSpc>
                <a:spcPct val="150000"/>
              </a:lnSpc>
              <a:spcAft>
                <a:spcPts val="1000"/>
              </a:spcAft>
            </a:pPr>
            <a:endParaRPr lang="ru-RU" sz="1800" dirty="0"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69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53BB417-8FC0-42E4-BD72-E80C56D829C2}"/>
              </a:ext>
            </a:extLst>
          </p:cNvPr>
          <p:cNvSpPr txBox="1">
            <a:spLocks/>
          </p:cNvSpPr>
          <p:nvPr/>
        </p:nvSpPr>
        <p:spPr>
          <a:xfrm>
            <a:off x="1251678" y="81189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РАЗРАБОТКА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ПРОГРАММНОГО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ОБЕСПЕЧЕНИЯ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4128DB8-5E45-4348-A961-F3071DE11B4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93892" y="771149"/>
            <a:ext cx="10293894" cy="60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3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РАЗРАБОТКА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ПРОГРАММНОГО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ОБЕСПЕЧЕНИЯ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A519742-CD34-4E88-AF26-401AEF3D1C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735" y="996013"/>
            <a:ext cx="6120130" cy="351218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B533DD5-7CC8-472E-B522-F87CFC45E9D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031877" y="1096858"/>
            <a:ext cx="3566629" cy="297637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DA9DB2B-2CC7-4B59-B59A-14A7E8859BA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281852" y="3191963"/>
            <a:ext cx="3750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7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РАЗРАБОТКА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ПРОГРАММНОГО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ОБЕСПЕЧЕНИЯ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DBB2C5A-8A4A-4919-8B6B-AF4066C32C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0642" y="1643062"/>
            <a:ext cx="5824997" cy="35718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0D6076-45E9-4D05-A671-187711599FD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53869" y="1643062"/>
            <a:ext cx="459168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2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РАЗРАБОТКА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ПРОГРАММНОГО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dirty="0">
                <a:latin typeface="Calibri" pitchFamily="34" charset="0"/>
                <a:cs typeface="Calibri" pitchFamily="34" charset="0"/>
              </a:rPr>
              <a:t>ОБЕСПЕЧЕНИЯ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567A03-96F8-4F0A-8CA0-5CB273A4E6F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14188" y="1251896"/>
            <a:ext cx="6818260" cy="168649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5E048F-E908-4667-A83E-B2D0A08BF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01" y="1383030"/>
            <a:ext cx="2133898" cy="12384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D4EC14-041F-44F7-9D10-87D13D135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298" y="3388171"/>
            <a:ext cx="6058746" cy="60015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99759B6-15D9-4E21-8E7E-A71059269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01" y="4493758"/>
            <a:ext cx="10587143" cy="18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2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ТЕСТИРОВАНИЕ ПРИЛОЖЕНИЯ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9E8CB4-2024-4794-A931-9FA3FB762E3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7922" y="1383030"/>
            <a:ext cx="4099253" cy="17141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EC6F82-FF0E-4C90-B3B4-343A4955817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09747" y="1383030"/>
            <a:ext cx="2711389" cy="171412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7DBAAFF-0D28-48A8-9A19-4B88193E7E3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82048" y="3760850"/>
            <a:ext cx="5106035" cy="29051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29BE458-9938-4A02-A3F3-A8B0F0A9E1B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249453" y="4437124"/>
            <a:ext cx="3867150" cy="155257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2C95F95-78A2-4D56-A733-438D5464B74A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944327" y="2320863"/>
            <a:ext cx="2858663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4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Нахождение кратчайших путей на графе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F2D2042-6532-4648-BD0A-CC83AE52A55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81" y="1078911"/>
            <a:ext cx="4863353" cy="5396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565F462-5829-4B6F-A1F0-C9F832824D3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556067" y="1078912"/>
            <a:ext cx="5020945" cy="171831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DE08BE-74AA-4298-AD23-3841D5B85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785" y="4060779"/>
            <a:ext cx="6060504" cy="143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2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000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4000" dirty="0">
                <a:latin typeface="Calibri" pitchFamily="34" charset="0"/>
                <a:cs typeface="Calibri" pitchFamily="34" charset="0"/>
              </a:rPr>
              <a:t>Решение задачи линейного программирования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9D515-F7A8-421D-8990-0803E99FBE6F}"/>
              </a:ext>
            </a:extLst>
          </p:cNvPr>
          <p:cNvSpPr txBox="1"/>
          <p:nvPr/>
        </p:nvSpPr>
        <p:spPr>
          <a:xfrm>
            <a:off x="1140031" y="1677596"/>
            <a:ext cx="4762005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Вариант 5. Рекламная кампания</a:t>
            </a:r>
          </a:p>
          <a:p>
            <a:pPr indent="450215" algn="just"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Закупается реклама на ТВ и в интернете для максимизации охвата. Охват одного ролика на ТВ — 10 тыс. человек, в интернете — 5 тыс. человек. Бюджет — 500 тыс. руб. (ТВ — 50 тыс./шт., интернет — 20 тыс./шт.). Нужно купить не менее 5 роликов на ТВ. Количество интернет-рекламы не должно превышать количество ТВ-роликов более чем в 3 раза.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66BEBA-4268-43EE-92F5-A3D9FA0B790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835" y="1516692"/>
            <a:ext cx="4893165" cy="4933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61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Файл:Microsoft Office Visio (2013–2019)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Microsoft Visio png | PNGEg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16C38F6-EB8D-4B30-BEA3-175345E2C6C7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7813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ts val="1800"/>
            </a:pPr>
            <a:r>
              <a:rPr lang="ru-RU" sz="3000" dirty="0">
                <a:latin typeface="Calibri" pitchFamily="34" charset="0"/>
                <a:cs typeface="Calibri" pitchFamily="34" charset="0"/>
              </a:rPr>
              <a:t>Решение задачи корреляционного анализа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DC5B8-88D3-4899-AD7E-C896BFC0F233}"/>
              </a:ext>
            </a:extLst>
          </p:cNvPr>
          <p:cNvSpPr txBox="1"/>
          <p:nvPr/>
        </p:nvSpPr>
        <p:spPr>
          <a:xfrm>
            <a:off x="982684" y="1516692"/>
            <a:ext cx="4672482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основе выборочных данных о специалистах ИИ и машинного обучения за 2025-2026 годы по 25 профессиям и в 14 странах исследовать статистическую зависимость между минимальной годовой заработной платой (Y) и количеством лет профессионального опыта (X). Построить эконометрическую модель, оценить её адекватность и сделать выводы о значимости выявленной связи для целей прогнозирования доходов.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ACD77E-83A8-452A-936B-0BCA61D2D6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44900" y="2165623"/>
            <a:ext cx="5792918" cy="34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74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ru-RU" sz="4000" dirty="0">
                <a:latin typeface="Calibri" pitchFamily="34" charset="0"/>
                <a:cs typeface="Calibri" pitchFamily="34" charset="0"/>
              </a:rPr>
              <a:t>Заключение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3A367-4040-A526-CFB9-E2B6CF40B236}"/>
              </a:ext>
            </a:extLst>
          </p:cNvPr>
          <p:cNvSpPr txBox="1"/>
          <p:nvPr/>
        </p:nvSpPr>
        <p:spPr>
          <a:xfrm>
            <a:off x="1425040" y="1524769"/>
            <a:ext cx="9795946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ходе прохождения учебной практики были достигнуты все поставленные цели и выполнены задачи индивидуального задания.</a:t>
            </a:r>
          </a:p>
          <a:p>
            <a:pPr indent="450215" algn="just"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Основные результаты практики:</a:t>
            </a:r>
          </a:p>
          <a:p>
            <a:pPr indent="4502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</a:t>
            </a:r>
          </a:p>
          <a:p>
            <a:pPr indent="4502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Решена задача поиска кратчайшего пути между пунктами A и Z</a:t>
            </a:r>
          </a:p>
          <a:p>
            <a:pPr indent="4502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Выполнена оптимизация рекламной кампании методом линейного программирования </a:t>
            </a:r>
          </a:p>
          <a:p>
            <a:pPr indent="4502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Проведён регрессионный анализ, показавший слабую связь между стажем и зарплатой в сфере ИИ</a:t>
            </a:r>
          </a:p>
        </p:txBody>
      </p:sp>
    </p:spTree>
    <p:extLst>
      <p:ext uri="{BB962C8B-B14F-4D97-AF65-F5344CB8AC3E}">
        <p14:creationId xmlns:p14="http://schemas.microsoft.com/office/powerpoint/2010/main" val="885310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50845845-91BC-FE91-3D07-49C8E99A0E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94528" y="160021"/>
            <a:ext cx="1017832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chemeClr val="tx1"/>
                </a:solidFill>
                <a:ea typeface="+mn-lt"/>
              </a:rPr>
              <a:t>Министерство образования Иркутской области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chemeClr val="tx1"/>
                </a:solidFill>
                <a:ea typeface="+mn-lt"/>
              </a:rPr>
              <a:t> Государственное бюджетное профессиональное образовательное учреждение Иркутской области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chemeClr val="tx1"/>
                </a:solidFill>
                <a:ea typeface="+mn-lt"/>
              </a:rPr>
              <a:t> «Ангарский промышленно-экономический техникум»</a:t>
            </a:r>
            <a:endParaRPr lang="ru-RU" sz="1100" dirty="0">
              <a:solidFill>
                <a:schemeClr val="tx1"/>
              </a:solidFill>
            </a:endParaRP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404344" y="5035817"/>
          <a:ext cx="5840730" cy="866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Руководитель по практической подготовке в виде учебной практики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Туркина Надежда Михайловна, преподаватель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3442284" y="2501819"/>
          <a:ext cx="5802790" cy="92259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722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6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 специальности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09.02.07 Информационные системы и программирование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обучающегося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курса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группы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ИСПП-6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30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Гончарка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Егора Андреевича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1626870" y="818861"/>
            <a:ext cx="893826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Calibri" pitchFamily="34" charset="0"/>
                <a:cs typeface="Calibri" pitchFamily="34" charset="0"/>
              </a:rPr>
              <a:t>Отчет</a:t>
            </a:r>
            <a:endParaRPr lang="ru-RU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ru-RU" dirty="0">
                <a:latin typeface="Calibri" pitchFamily="34" charset="0"/>
                <a:cs typeface="Calibri" pitchFamily="34" charset="0"/>
              </a:rPr>
              <a:t>по практической подготовке в виде учебной практики</a:t>
            </a:r>
          </a:p>
          <a:p>
            <a:pPr algn="ctr"/>
            <a:r>
              <a:rPr lang="ru-RU" dirty="0">
                <a:latin typeface="Calibri" pitchFamily="34" charset="0"/>
                <a:cs typeface="Calibri" pitchFamily="34" charset="0"/>
              </a:rPr>
              <a:t>профессионального модуля</a:t>
            </a:r>
          </a:p>
          <a:p>
            <a:pPr algn="ctr"/>
            <a:r>
              <a:rPr lang="ru-RU" dirty="0">
                <a:latin typeface="Calibri" pitchFamily="34" charset="0"/>
                <a:cs typeface="Calibri" pitchFamily="34" charset="0"/>
              </a:rPr>
              <a:t>(ПМ.02)  Осуществление интеграции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554986909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916208_win32_fixed" id="{730B505B-88E8-4A70-9277-B3B3E529522D}" vid="{57DC1FE5-D34D-442D-8FDC-B221A6146DA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477</Words>
  <Application>Microsoft Office PowerPoint</Application>
  <PresentationFormat>Широкоэкранный</PresentationFormat>
  <Paragraphs>79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Corbel</vt:lpstr>
      <vt:lpstr>Gill Sans MT</vt:lpstr>
      <vt:lpstr>Impact</vt:lpstr>
      <vt:lpstr>Times New Roman</vt:lpstr>
      <vt:lpstr>Эмблема</vt:lpstr>
      <vt:lpstr>Презентация PowerPoint</vt:lpstr>
      <vt:lpstr>вВЕДЕНИЕ</vt:lpstr>
      <vt:lpstr>РАЗРАБОТКА ПРОГРАММНОГО ОБЕСПЕЧЕНИЯ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2021-11-12T01:05:13Z</dcterms:created>
  <dcterms:modified xsi:type="dcterms:W3CDTF">2026-03-19T18:31:36Z</dcterms:modified>
</cp:coreProperties>
</file>